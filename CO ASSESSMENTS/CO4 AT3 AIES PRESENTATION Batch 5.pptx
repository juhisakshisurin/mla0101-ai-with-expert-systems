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9" r:id="rId4"/>
    <p:sldId id="266" r:id="rId5"/>
    <p:sldId id="274" r:id="rId6"/>
    <p:sldId id="270" r:id="rId7"/>
    <p:sldId id="275" r:id="rId8"/>
    <p:sldId id="271" r:id="rId9"/>
    <p:sldId id="272" r:id="rId10"/>
    <p:sldId id="273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EE484-94C4-D2DD-596D-780C61FC7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6B112-E5DD-A4C7-B573-8198F4D48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6EEDC-AB08-BFC4-B515-EB834261D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FA22-F0E0-4DE3-A0F7-B1EA0B1311EC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AC91F-FD99-039E-C344-7FE8CC9D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2780F-2601-00C7-B3C8-7C90791BA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778D-1BD2-4DAC-9256-30DB912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7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901EB-20ED-70EF-8329-D4C87D897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08CBA-3E58-C9A5-E966-241C3A1A0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0FD8D-832C-970D-0490-9A63DA641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FA22-F0E0-4DE3-A0F7-B1EA0B1311EC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C456F-4F5F-B01A-B292-29DD5F4F1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E9E91-0492-ED11-E2A3-CC2990FF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778D-1BD2-4DAC-9256-30DB912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266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DE213-88DC-7A8C-F553-33F8F2DEF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D76CD-B739-FA01-FBE3-D25860917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6CB62-51C1-C823-5FF2-02CB477CE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FA22-F0E0-4DE3-A0F7-B1EA0B1311EC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EF19B-7B7C-4B97-5BEE-D081193E2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40F1A-61EA-C9CE-80AE-B082E5BCE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778D-1BD2-4DAC-9256-30DB912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27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477A-AB26-02E0-0337-4ED48D05C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19CB4-DE58-8242-B134-4A8E7F95FD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2C48C-99B4-F35E-C17C-950DC5CE7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16623-191F-5B96-D318-7115CCCE9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FA22-F0E0-4DE3-A0F7-B1EA0B1311EC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0EE1F-155C-77C6-61C1-5998C575B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64B5F-DD4A-3469-9332-8A8A45619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778D-1BD2-4DAC-9256-30DB912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279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57A21-131C-F1A6-B5E9-552210979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B275B-8D64-6A90-2E2B-4025123E0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D84324-F985-3D7C-94A3-9C0A80F42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B492F5-5311-3CA8-E56A-045D2A25B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7AD0DF-0CFE-AD1A-E65C-CB0F22CC24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6FA725-165A-CF36-A714-71FFBCC2A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FA22-F0E0-4DE3-A0F7-B1EA0B1311EC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035506-1A0E-CAEB-759F-3DA1B927F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4BF12A-1F37-6939-C9EC-C1065C5F2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778D-1BD2-4DAC-9256-30DB912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296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A6375-FAFA-A98C-B8AC-59B815532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D31DF3-28D7-F0F5-3EF8-A0217C3BC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FA22-F0E0-4DE3-A0F7-B1EA0B1311EC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6BF826-4457-1B42-A061-1D336AAD2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AF4F6-83DD-D98B-E64C-DE69091E5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778D-1BD2-4DAC-9256-30DB912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932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72DEA-7093-D57F-6148-22707A0E7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FA22-F0E0-4DE3-A0F7-B1EA0B1311EC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BB5EEA-7DBE-585D-F48F-AD1EA0FD6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FD63E-3589-61B8-F263-C6B0610B9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778D-1BD2-4DAC-9256-30DB912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04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81BD1-9861-02EE-50F3-D63DE51A1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4F8C6-AF0C-C657-7A5B-5ED3D5C0C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B6BE7-C2D9-E54B-7101-CBD64F7D2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3A920-641C-7DE0-FE19-42F15B404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FA22-F0E0-4DE3-A0F7-B1EA0B1311EC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31586-54FC-7800-12DE-DBA5C1689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E6AB4-2465-CEAD-857F-0DFEE08D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778D-1BD2-4DAC-9256-30DB912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874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2867E-4CA9-545F-3803-8A0A07B68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1C63AA-18D7-8843-3486-DBA088D710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8C904E-5230-11E8-A37F-336033C24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25968-6663-8878-C1D9-4B6AD6488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FA22-F0E0-4DE3-A0F7-B1EA0B1311EC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A50CB-AAF0-6F01-FFD0-8F702A803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6A554-C771-968D-8D50-B9765F99F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778D-1BD2-4DAC-9256-30DB912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466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128D-BB82-F956-4060-18469557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29551C-0E03-7EEE-9109-BFB674198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B0C80-A440-0174-BAF5-B22DB44D5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FA22-F0E0-4DE3-A0F7-B1EA0B1311EC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338E3-0FEB-8EA4-F78D-7B1C09F2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6F28E-F070-D04E-105E-3A4709D5A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778D-1BD2-4DAC-9256-30DB912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709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740F5F-FF21-EF9F-9BE1-6EDE0AE14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8023A-D889-A183-06F0-AA1369145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09F0E-AE71-A3E9-2654-67404031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FA22-F0E0-4DE3-A0F7-B1EA0B1311EC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7DED9-21B9-C9C3-5E1B-C912E622D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5F90C-4787-2BE1-D3BB-FAEBF53A7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778D-1BD2-4DAC-9256-30DB912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782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2E629D-AFA3-380F-90E6-E9F439B10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00A1C-ECC1-4453-F50F-9BD4A49D3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509AC-7FA4-47BE-AA5A-E604C4A83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CFA22-F0E0-4DE3-A0F7-B1EA0B1311EC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EDC72-75F0-212C-DA76-1A019B6B27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E5A00-7010-8629-017C-51ECC8007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1778D-1BD2-4DAC-9256-30DB912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10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0E0C0F-2D5B-EB31-74BF-B48F93F7D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04800" y="465365"/>
            <a:ext cx="11277600" cy="9062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11F3EE-BF12-6973-7C90-7961FE0AC1EC}"/>
              </a:ext>
            </a:extLst>
          </p:cNvPr>
          <p:cNvSpPr txBox="1"/>
          <p:nvPr/>
        </p:nvSpPr>
        <p:spPr>
          <a:xfrm>
            <a:off x="8485239" y="5069196"/>
            <a:ext cx="32640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Juhi Surin (192525148)</a:t>
            </a:r>
          </a:p>
          <a:p>
            <a:r>
              <a:rPr lang="en-IN" sz="2000" dirty="0" err="1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Mokshitha</a:t>
            </a:r>
            <a:r>
              <a:rPr lang="en-IN" sz="2000" dirty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</a:t>
            </a:r>
            <a:r>
              <a:rPr lang="en-IN" sz="2000" dirty="0" err="1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Kilari</a:t>
            </a:r>
            <a:r>
              <a:rPr lang="en-IN" sz="2000" dirty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(192525413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503050405090304"/>
                <a:cs typeface="Times New Roman" panose="02020603050405020304" pitchFamily="18" charset="0"/>
                <a:sym typeface="Times New Roman" panose="02020503050405090304"/>
              </a:rPr>
              <a:t>)</a:t>
            </a:r>
          </a:p>
          <a:p>
            <a:r>
              <a:rPr lang="en-IN" sz="2000" dirty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Chandana K(192525363)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61304-A79F-403C-E1D3-FA4B30F110ED}"/>
              </a:ext>
            </a:extLst>
          </p:cNvPr>
          <p:cNvSpPr txBox="1"/>
          <p:nvPr/>
        </p:nvSpPr>
        <p:spPr>
          <a:xfrm>
            <a:off x="835741" y="5348748"/>
            <a:ext cx="2685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supervision: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Subramanian 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27CD01-04C2-79BE-0393-C4ACEF87D14C}"/>
              </a:ext>
            </a:extLst>
          </p:cNvPr>
          <p:cNvSpPr txBox="1"/>
          <p:nvPr/>
        </p:nvSpPr>
        <p:spPr>
          <a:xfrm>
            <a:off x="717755" y="2435568"/>
            <a:ext cx="110315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</a:t>
            </a:r>
          </a:p>
          <a:p>
            <a:pPr algn="ctr"/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1053295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E852C-455C-E7AD-D4E8-F9EB09DBF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6D7762-EB7D-3DA6-9613-0F602F01B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190" y="2205008"/>
            <a:ext cx="628281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Decision Tree is a machine learning technique used for classification and prediction.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makes decisions by dividing a problem into smaller and simpler conditions.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decision is represented in the form of a tree-like structure.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follows a sequence of questions to reach a final decision.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are widely used because they are simple, interpretable, and effective.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11E715-9B80-4776-3CC4-0444E7AEA7F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1143000" cy="9177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DAEF9D-7777-48DC-1DEC-6A27BF2082B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744200" y="278104"/>
            <a:ext cx="962342" cy="944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48978D-5AEA-B999-F423-D5E2072CAA61}"/>
              </a:ext>
            </a:extLst>
          </p:cNvPr>
          <p:cNvSpPr txBox="1"/>
          <p:nvPr/>
        </p:nvSpPr>
        <p:spPr>
          <a:xfrm>
            <a:off x="2674374" y="868631"/>
            <a:ext cx="68432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Decision Trees</a:t>
            </a:r>
          </a:p>
        </p:txBody>
      </p:sp>
      <p:pic>
        <p:nvPicPr>
          <p:cNvPr id="1026" name="Picture 2" descr="Decision Tree In Depth. A comprehensive guide to the essentials… | by  Fraidoon Omarzai | Medium">
            <a:extLst>
              <a:ext uri="{FF2B5EF4-FFF2-40B4-BE49-F238E27FC236}">
                <a16:creationId xmlns:a16="http://schemas.microsoft.com/office/drawing/2014/main" id="{55C95139-C6EE-F1FE-A1DE-147DE4959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314" y="2203717"/>
            <a:ext cx="4809663" cy="3657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9459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836FD-14D5-05AE-6592-C0D70246D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3469D-14E0-C4A8-F72C-B38B8EBA624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1143000" cy="9177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E25913-3EF1-45C8-CC42-AEC6590BA68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744200" y="278104"/>
            <a:ext cx="962342" cy="944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83AE7D-7978-D7D3-24BD-5EF441C20D8E}"/>
              </a:ext>
            </a:extLst>
          </p:cNvPr>
          <p:cNvSpPr txBox="1"/>
          <p:nvPr/>
        </p:nvSpPr>
        <p:spPr>
          <a:xfrm>
            <a:off x="1976284" y="671986"/>
            <a:ext cx="7993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Structure of a Decision Tree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76859F-491A-B012-22A2-225A9E1E07B1}"/>
              </a:ext>
            </a:extLst>
          </p:cNvPr>
          <p:cNvSpPr txBox="1"/>
          <p:nvPr/>
        </p:nvSpPr>
        <p:spPr>
          <a:xfrm>
            <a:off x="952500" y="1785683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Components: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Node: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first and most important decision.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Node: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a condition or test on a feature.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possible outcome of a decision.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Node: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final prediction or decision.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sequence of rules followed to reach a conclusion.</a:t>
            </a:r>
          </a:p>
        </p:txBody>
      </p:sp>
      <p:pic>
        <p:nvPicPr>
          <p:cNvPr id="2050" name="Picture 2" descr="Decision Trees Complete Guide [How To, 5 Types &amp; Alternatives]">
            <a:extLst>
              <a:ext uri="{FF2B5EF4-FFF2-40B4-BE49-F238E27FC236}">
                <a16:creationId xmlns:a16="http://schemas.microsoft.com/office/drawing/2014/main" id="{024795C3-1253-2C97-CDD0-4ACBEDA41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02" y="2230715"/>
            <a:ext cx="4243166" cy="3634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9258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E7381-6750-E151-A0CA-F2F55D005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49A351-7A37-5EE5-70A1-2450EBD215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1143000" cy="9177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0A24C7-DEA8-4D50-A6D0-3FDAA885F15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744200" y="278104"/>
            <a:ext cx="962342" cy="944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6FBEF2-92AD-41A0-1401-DC56483586E2}"/>
              </a:ext>
            </a:extLst>
          </p:cNvPr>
          <p:cNvSpPr txBox="1"/>
          <p:nvPr/>
        </p:nvSpPr>
        <p:spPr>
          <a:xfrm>
            <a:off x="2466666" y="396396"/>
            <a:ext cx="75388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 Decision Tree Works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81C956-9B12-850B-D592-0064B19C697F}"/>
              </a:ext>
            </a:extLst>
          </p:cNvPr>
          <p:cNvSpPr txBox="1"/>
          <p:nvPr/>
        </p:nvSpPr>
        <p:spPr>
          <a:xfrm>
            <a:off x="747252" y="1930623"/>
            <a:ext cx="705956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first receives a dataset containing input features and expected output values.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analyzes all available features to identify the best feature for the first split.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divided into different branches according to the selected condition.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process is repeated until the data reaches a final decision or stopping condition.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the model may check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attendance, marks, assignments, and study hours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predicting performance. 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F049AA4C-69A7-222B-E20A-D58B8D798B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03" t="4345" r="19140" b="10181"/>
          <a:stretch/>
        </p:blipFill>
        <p:spPr bwMode="auto">
          <a:xfrm>
            <a:off x="8059997" y="1750142"/>
            <a:ext cx="3891127" cy="3854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0880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6DF05-4FD3-4FF3-8FD9-E50CE6F19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6AA30C-E86B-B365-00B4-905D5216689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1143000" cy="9177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03386D-E8B3-747F-7EA2-8CF4ACC73EA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744200" y="278104"/>
            <a:ext cx="962342" cy="944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96CEE2-0045-40F4-F1AE-6E90CF376956}"/>
              </a:ext>
            </a:extLst>
          </p:cNvPr>
          <p:cNvSpPr txBox="1"/>
          <p:nvPr/>
        </p:nvSpPr>
        <p:spPr>
          <a:xfrm>
            <a:off x="2466666" y="396396"/>
            <a:ext cx="75388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Criteria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E23357-B09D-8A12-CE98-DB0A0135AE89}"/>
              </a:ext>
            </a:extLst>
          </p:cNvPr>
          <p:cNvSpPr txBox="1"/>
          <p:nvPr/>
        </p:nvSpPr>
        <p:spPr>
          <a:xfrm>
            <a:off x="757084" y="1370057"/>
            <a:ext cx="1065816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use mathematical techniques to choose the best question for splitting data.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Measures the uncertainty or randomness in the data.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Measures how much useful information is gained after a split.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Gini Index: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Measures how pure or mixed the groups are after splitting.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selects the split that gives the best separation between data.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372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F9DE3-7D2A-3FB5-F1B0-F28916854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84D2F5-8D99-901E-0F15-6A891279A68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1143000" cy="9177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E77CF0-DEAB-B8E2-B491-5328D3DA758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744200" y="278104"/>
            <a:ext cx="962342" cy="9444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E74137-86C5-E69E-6B49-C8D5F035314B}"/>
              </a:ext>
            </a:extLst>
          </p:cNvPr>
          <p:cNvSpPr txBox="1"/>
          <p:nvPr/>
        </p:nvSpPr>
        <p:spPr>
          <a:xfrm>
            <a:off x="3048000" y="76368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Decision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3B557A-215B-CFA7-E4AE-B6404B80B793}"/>
              </a:ext>
            </a:extLst>
          </p:cNvPr>
          <p:cNvSpPr txBox="1"/>
          <p:nvPr/>
        </p:nvSpPr>
        <p:spPr>
          <a:xfrm>
            <a:off x="844344" y="1744658"/>
            <a:ext cx="78080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Tree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when the output belongs to a specific category or class.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a Classification Tree can predict whether a student will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or Fail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Tree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when the output is a continuous numerical value.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a Regression Tree can predict a student's expected final examination mark.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Decision Trees can solve both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classification and numerical prediction problems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430C47-71F7-68AD-CB3A-C6CB901AF6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1455"/>
          <a:stretch/>
        </p:blipFill>
        <p:spPr>
          <a:xfrm>
            <a:off x="8944879" y="1537941"/>
            <a:ext cx="2952154" cy="21566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D6B615-DC3A-D7AF-635F-9444881D61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951" r="121"/>
          <a:stretch/>
        </p:blipFill>
        <p:spPr>
          <a:xfrm>
            <a:off x="8944879" y="3760956"/>
            <a:ext cx="2853830" cy="215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862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D1B27-C45E-CC03-B5E3-3FFA3B96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C5DDB6-E0B1-2360-F4A6-9457AE76B1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1143000" cy="9177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0F5620-C048-B814-4C74-41A7076E8E2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744200" y="278104"/>
            <a:ext cx="962342" cy="9444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8209A9-4C53-15F0-B5B2-A4DD6CF59AEB}"/>
              </a:ext>
            </a:extLst>
          </p:cNvPr>
          <p:cNvSpPr txBox="1"/>
          <p:nvPr/>
        </p:nvSpPr>
        <p:spPr>
          <a:xfrm>
            <a:off x="1671484" y="455351"/>
            <a:ext cx="110121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Application: Student Performance Prediction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9FB4D5-A89A-1BD5-69AD-9C4B71E070EB}"/>
              </a:ext>
            </a:extLst>
          </p:cNvPr>
          <p:cNvSpPr txBox="1"/>
          <p:nvPr/>
        </p:nvSpPr>
        <p:spPr>
          <a:xfrm>
            <a:off x="706693" y="1278929"/>
            <a:ext cx="11012129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Decision Trees Help Predict Student Performance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Decision Tree can analyze factors such as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attendance, previous marks, assignment scores, study hours, and class participation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first checks important conditions, such as whether the student's attendance is above 75 percent. </a:t>
            </a:r>
          </a:p>
          <a:p>
            <a:pPr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then analyzes academic performance, such as whether previous examination marks are above 60 percent. </a:t>
            </a:r>
          </a:p>
          <a:p>
            <a:pPr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these conditions, the model can classify the student as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Performance, Average Performance, or Needs Improvement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prediction helps teachers provide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guidance and personalized support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students who may be academically at risk. </a:t>
            </a:r>
          </a:p>
          <a:p>
            <a:pPr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&gt; 75% → Previous Marks &gt; 60% → Good Performance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&lt; 75% → Needs Improvement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293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AC410-D044-65B8-CDD3-CFFF907D4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D484BF-A828-954D-88DE-0F60F5C12C5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1143000" cy="9177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5B0A39-0077-043D-31B4-CB6C0CC9D89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744200" y="278104"/>
            <a:ext cx="962342" cy="944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3DCFB3-2F96-713A-B534-BD5B6F41DA4A}"/>
              </a:ext>
            </a:extLst>
          </p:cNvPr>
          <p:cNvSpPr txBox="1"/>
          <p:nvPr/>
        </p:nvSpPr>
        <p:spPr>
          <a:xfrm>
            <a:off x="4875569" y="514688"/>
            <a:ext cx="29312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BBDC26C-27D9-2C70-CE78-99DF67194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658" y="1557677"/>
            <a:ext cx="683834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are easy to understand because their structure is similar to human decision-making.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tree structure can be visually represented, making the prediction process easy to explain.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can handle both numerical data, such as marks, and categorical data, such as performance levels.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require relatively less data preparation compared with some other machine learning algorithms.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can identify important factors that have a strong influence on the final prediction. </a:t>
            </a:r>
          </a:p>
        </p:txBody>
      </p:sp>
      <p:pic>
        <p:nvPicPr>
          <p:cNvPr id="9" name="Picture 8" descr="A diagram of a tree&#10;&#10;Description automatically generated">
            <a:extLst>
              <a:ext uri="{FF2B5EF4-FFF2-40B4-BE49-F238E27FC236}">
                <a16:creationId xmlns:a16="http://schemas.microsoft.com/office/drawing/2014/main" id="{27B58F5C-A20B-196A-5798-96CDE55605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0" t="15627" r="4797" b="4055"/>
          <a:stretch/>
        </p:blipFill>
        <p:spPr>
          <a:xfrm>
            <a:off x="7806812" y="2113935"/>
            <a:ext cx="4006848" cy="346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041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719EF-B13C-C271-18AE-1924F99B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8E5C35-7B0D-C089-996A-5AB8713D5C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1143000" cy="9177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D81F8E-122A-8FCC-391A-970DD516F37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744200" y="278104"/>
            <a:ext cx="962342" cy="9444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807EB6-1AF2-D640-FEE0-0AC4B8C6464A}"/>
              </a:ext>
            </a:extLst>
          </p:cNvPr>
          <p:cNvSpPr txBox="1"/>
          <p:nvPr/>
        </p:nvSpPr>
        <p:spPr>
          <a:xfrm>
            <a:off x="4610100" y="514688"/>
            <a:ext cx="304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77B68C8-1CA1-C251-1F5A-0A1274DF4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081" y="1688262"/>
            <a:ext cx="1031403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Decision Tree can become overly complex when it creates too many branches from the training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overly complex tree may suffer from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perform poorly on new student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 changes in the dataset can sometimes result in a significantly different Decision Tree.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prediction quality depends heavily on the accuracy and completeness of the student data provided.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Techniques such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Pruning and Random Forest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be used to improve the model's reliability. </a:t>
            </a:r>
          </a:p>
        </p:txBody>
      </p:sp>
    </p:spTree>
    <p:extLst>
      <p:ext uri="{BB962C8B-B14F-4D97-AF65-F5344CB8AC3E}">
        <p14:creationId xmlns:p14="http://schemas.microsoft.com/office/powerpoint/2010/main" val="1395023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C1F2C-D51D-56F1-1C55-67DA795B5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616528-A50D-910D-D2C3-2FEDB3406E7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1143000" cy="9177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563F6E-F905-5FBD-B0BF-ED4D3D88563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744200" y="278104"/>
            <a:ext cx="962342" cy="944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79D61B-82FE-FC9E-4026-1856E3EF0EC3}"/>
              </a:ext>
            </a:extLst>
          </p:cNvPr>
          <p:cNvSpPr txBox="1"/>
          <p:nvPr/>
        </p:nvSpPr>
        <p:spPr>
          <a:xfrm>
            <a:off x="4167647" y="763687"/>
            <a:ext cx="39329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4C7B0-3E34-6833-ABB4-39C4648C7851}"/>
              </a:ext>
            </a:extLst>
          </p:cNvPr>
          <p:cNvSpPr txBox="1"/>
          <p:nvPr/>
        </p:nvSpPr>
        <p:spPr>
          <a:xfrm>
            <a:off x="2378176" y="5448422"/>
            <a:ext cx="75118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transform data into clear, logical, and intelligent decisions.</a:t>
            </a:r>
            <a:endParaRPr lang="en-IN" sz="2800" b="1" i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B9DECFC-D527-51C8-A385-F4510BE16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922" y="1318173"/>
            <a:ext cx="1078598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are powerful Artificial Intelligence tools that make predictions through logical conditions.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Their simple tree-like structure makes complex decisions easier to understand and interpret.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can be used for both classification problems and numerical prediction problems.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Prediction demonstrates how Decision Trees can solve an important real-world educational problem.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Therefore, Decision Trees can help transform educational data into meaningful insights and support better decision-making. </a:t>
            </a:r>
          </a:p>
        </p:txBody>
      </p:sp>
    </p:spTree>
    <p:extLst>
      <p:ext uri="{BB962C8B-B14F-4D97-AF65-F5344CB8AC3E}">
        <p14:creationId xmlns:p14="http://schemas.microsoft.com/office/powerpoint/2010/main" val="681955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E20D7-E7C0-224D-6984-BB4993359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366397A-39B0-BED0-6DDC-C105FCC5EC73}"/>
              </a:ext>
            </a:extLst>
          </p:cNvPr>
          <p:cNvSpPr txBox="1"/>
          <p:nvPr/>
        </p:nvSpPr>
        <p:spPr>
          <a:xfrm>
            <a:off x="3136491" y="2494165"/>
            <a:ext cx="62324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94619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784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Juhi Sakshi</dc:creator>
  <cp:lastModifiedBy>Juhi Sakshi</cp:lastModifiedBy>
  <cp:revision>4</cp:revision>
  <dcterms:created xsi:type="dcterms:W3CDTF">2026-08-24T05:47:26Z</dcterms:created>
  <dcterms:modified xsi:type="dcterms:W3CDTF">2026-08-25T15:12:28Z</dcterms:modified>
</cp:coreProperties>
</file>